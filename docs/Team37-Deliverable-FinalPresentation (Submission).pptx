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Montserrat SemiBold"/>
      <p:regular r:id="rId18"/>
      <p:bold r:id="rId19"/>
      <p:italic r:id="rId20"/>
      <p:boldItalic r:id="rId21"/>
    </p:embeddedFont>
    <p:embeddedFont>
      <p:font typeface="Montserrat"/>
      <p:regular r:id="rId22"/>
      <p:bold r:id="rId23"/>
      <p:italic r:id="rId24"/>
      <p:boldItalic r:id="rId25"/>
    </p:embeddedFont>
    <p:embeddedFont>
      <p:font typeface="Montserrat Medium"/>
      <p:regular r:id="rId26"/>
      <p:bold r:id="rId27"/>
      <p:italic r:id="rId28"/>
      <p:boldItalic r:id="rId29"/>
    </p:embeddedFont>
    <p:embeddedFont>
      <p:font typeface="Oswald SemiBold"/>
      <p:regular r:id="rId30"/>
      <p:bold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4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46908FC-2A9B-43EF-A094-91ACEE9BDE7E}">
  <a:tblStyle styleId="{646908FC-2A9B-43EF-A094-91ACEE9BDE7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italic.fntdata"/><Relationship Id="rId22" Type="http://schemas.openxmlformats.org/officeDocument/2006/relationships/font" Target="fonts/Montserrat-regular.fntdata"/><Relationship Id="rId21" Type="http://schemas.openxmlformats.org/officeDocument/2006/relationships/font" Target="fonts/MontserratSemiBold-boldItalic.fntdata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Medium-regular.fntdata"/><Relationship Id="rId25" Type="http://schemas.openxmlformats.org/officeDocument/2006/relationships/font" Target="fonts/Montserrat-boldItalic.fntdata"/><Relationship Id="rId28" Type="http://schemas.openxmlformats.org/officeDocument/2006/relationships/font" Target="fonts/MontserratMedium-italic.fntdata"/><Relationship Id="rId27" Type="http://schemas.openxmlformats.org/officeDocument/2006/relationships/font" Target="fonts/MontserratMedium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Medium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swaldSemiBold-bold.fntdata"/><Relationship Id="rId30" Type="http://schemas.openxmlformats.org/officeDocument/2006/relationships/font" Target="fonts/OswaldSemiBold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MontserratSemiBold-bold.fntdata"/><Relationship Id="rId18" Type="http://schemas.openxmlformats.org/officeDocument/2006/relationships/font" Target="fonts/Montserrat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cdb82d49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cdb82d49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Jeff - 30 second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were asked to help policymakers understand whether tax systems do more than raise revenue.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other words, do long-run state tax structures act as implicit incentive systems that “train” the economic composition and demographic evolution of states over time.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Our finding is that tax systems appear to function as long-run incentive environments. These incentives aren’t always intentional, but they persist, and over time states adapt to them in different ways.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We’re not claiming cause-and-effect — but the patterns are strong enough to inform policy thinking.”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c43028ac6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c43028ac6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Lina: (1 min)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“From a policymaker’s perspective, decisions can’t wait for perfect evidence.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Tax policies are implemented years before the research community agrees on their effects. At the same time, incentives operate continuously — whether or not they’re explicitly acknowledged.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 creates a gap: we lack tools that help observe how existing policy environments are actually shaping outcomes over time.”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c43028ac68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c43028ac6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Jeff(?) </a:t>
            </a:r>
            <a:r>
              <a:rPr b="1" lang="en">
                <a:solidFill>
                  <a:schemeClr val="dk1"/>
                </a:solidFill>
              </a:rPr>
              <a:t>(1 min)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 approach this as a system, not a one-off policy change.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Tax structures shape relative payoffs. Firms and households respond gradually. Over time, these responses accumulate and reshape the economic mix and population structure of a state.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To do this, we </a:t>
            </a:r>
            <a:r>
              <a:rPr lang="en">
                <a:solidFill>
                  <a:schemeClr val="dk1"/>
                </a:solidFill>
              </a:rPr>
              <a:t>model a state’s tax structure as the average environment firms experienced over a over the prior three years, measured two years before we observe economic outcomes.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This is a slow process — which is why it’s often hard to see using traditional short-term evaluation methods.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c43028ac68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c43028ac68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Lina: </a:t>
            </a:r>
            <a:r>
              <a:rPr b="1" lang="en">
                <a:solidFill>
                  <a:schemeClr val="dk1"/>
                </a:solidFill>
              </a:rPr>
              <a:t>(1 min)</a:t>
            </a:r>
            <a:endParaRPr b="1"/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Rather than debating tax intent or statutory design, we focus on what states actually collect revenue from over time.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practice, outcomes differ widely: the tax base as a share of GDP varies by more than </a:t>
            </a:r>
            <a:r>
              <a:rPr b="1" lang="en">
                <a:solidFill>
                  <a:schemeClr val="dk1"/>
                </a:solidFill>
              </a:rPr>
              <a:t>3× across states</a:t>
            </a:r>
            <a:r>
              <a:rPr lang="en">
                <a:solidFill>
                  <a:schemeClr val="dk1"/>
                </a:solidFill>
              </a:rPr>
              <a:t>, and tax base volatility differs by over </a:t>
            </a:r>
            <a:r>
              <a:rPr b="1" lang="en">
                <a:solidFill>
                  <a:schemeClr val="dk1"/>
                </a:solidFill>
              </a:rPr>
              <a:t>5×</a:t>
            </a:r>
            <a:r>
              <a:rPr lang="en">
                <a:solidFill>
                  <a:schemeClr val="dk1"/>
                </a:solidFill>
              </a:rPr>
              <a:t> between the most and least consistent systems.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Revenue composition shows which activities are being consistently taxed — and therefore implicitly rewarded or discouraged.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States with the most consistent revenue systems draw roughly </a:t>
            </a:r>
            <a:r>
              <a:rPr b="1" lang="en">
                <a:solidFill>
                  <a:schemeClr val="dk1"/>
                </a:solidFill>
              </a:rPr>
              <a:t>two-thirds of revenue from broad, diversified bases</a:t>
            </a:r>
            <a:r>
              <a:rPr lang="en">
                <a:solidFill>
                  <a:schemeClr val="dk1"/>
                </a:solidFill>
              </a:rPr>
              <a:t>, while more inconsistent states rely heavily on narrow or externally driven sources that can account for </a:t>
            </a:r>
            <a:r>
              <a:rPr b="1" lang="en">
                <a:solidFill>
                  <a:schemeClr val="dk1"/>
                </a:solidFill>
              </a:rPr>
              <a:t>25–40% of total revenue</a:t>
            </a:r>
            <a:r>
              <a:rPr lang="en">
                <a:solidFill>
                  <a:schemeClr val="dk1"/>
                </a:solidFill>
              </a:rPr>
              <a:t> in some years.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This allows us to observe incentives directly, without taking a position on economic theory or policy goals.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43028ac68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c43028ac68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Sachin (?) </a:t>
            </a:r>
            <a:r>
              <a:rPr b="1" lang="en">
                <a:solidFill>
                  <a:schemeClr val="dk1"/>
                </a:solidFill>
              </a:rPr>
              <a:t>(1 min)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“Instead of focusing on GDP levels or short-term growth, we look at structural change.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Are state economies becoming more concentrated or more diversified? Are populations aging faster?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These are outcomes that matter for long-run resilience and fiscal sustainability — and they align closely with policy goals.”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43028ac68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c43028ac68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Jeff - 45 sec</a:t>
            </a:r>
            <a:endParaRPr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To assess whether incentives tend to come before adaptation, we compare groups of similar states with different tax structures.</a:t>
            </a:r>
            <a:endParaRPr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When national events affect everyone at once, we observe whether these groups diverge over time.</a:t>
            </a:r>
            <a:endParaRPr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 doesn’t eliminate all uncertainty, but it helps us reason about directionality in a practical way.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Our preliminary findings suggest that s</a:t>
            </a:r>
            <a:r>
              <a:rPr lang="en">
                <a:solidFill>
                  <a:schemeClr val="dk1"/>
                </a:solidFill>
              </a:rPr>
              <a:t>tates that rely on </a:t>
            </a:r>
            <a:r>
              <a:rPr b="1" lang="en">
                <a:solidFill>
                  <a:schemeClr val="dk1"/>
                </a:solidFill>
              </a:rPr>
              <a:t>resource-based tax revenues</a:t>
            </a:r>
            <a:r>
              <a:rPr lang="en">
                <a:solidFill>
                  <a:schemeClr val="dk1"/>
                </a:solidFill>
              </a:rPr>
              <a:t> systematically drift toward </a:t>
            </a:r>
            <a:r>
              <a:rPr b="1" lang="en">
                <a:solidFill>
                  <a:schemeClr val="dk1"/>
                </a:solidFill>
              </a:rPr>
              <a:t>slower economic growth and lower diversification</a:t>
            </a:r>
            <a:r>
              <a:rPr lang="en">
                <a:solidFill>
                  <a:schemeClr val="dk1"/>
                </a:solidFill>
              </a:rPr>
              <a:t>, while states anchored in </a:t>
            </a:r>
            <a:r>
              <a:rPr b="1" lang="en">
                <a:solidFill>
                  <a:schemeClr val="dk1"/>
                </a:solidFill>
              </a:rPr>
              <a:t>corporate and selective excise tax bases</a:t>
            </a:r>
            <a:r>
              <a:rPr lang="en">
                <a:solidFill>
                  <a:schemeClr val="dk1"/>
                </a:solidFill>
              </a:rPr>
              <a:t> show </a:t>
            </a:r>
            <a:r>
              <a:rPr b="1" lang="en">
                <a:solidFill>
                  <a:schemeClr val="dk1"/>
                </a:solidFill>
              </a:rPr>
              <a:t>stronger growth or more diversified economic structures</a:t>
            </a:r>
            <a:r>
              <a:rPr lang="en">
                <a:solidFill>
                  <a:schemeClr val="dk1"/>
                </a:solidFill>
              </a:rPr>
              <a:t>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other words, it’s </a:t>
            </a:r>
            <a:r>
              <a:rPr b="1" lang="en">
                <a:solidFill>
                  <a:schemeClr val="dk1"/>
                </a:solidFill>
              </a:rPr>
              <a:t>what </a:t>
            </a:r>
            <a:r>
              <a:rPr lang="en">
                <a:solidFill>
                  <a:schemeClr val="dk1"/>
                </a:solidFill>
              </a:rPr>
              <a:t>a state taxes—not how much—that quietly trains its economy over time.</a:t>
            </a:r>
            <a:endParaRPr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43028ac68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c43028ac68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Kolbe - 45 sec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“An important point is that mixed or null results are still informative.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 a complex system, learning where incentives don’t seem to drive outcomes helps policymakers avoid overconfidence and misdirected interventions.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 reduces decision risk by narrowing the set of plausible policy stories.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An example would be economic concentration or spread across fields which our </a:t>
            </a:r>
            <a:r>
              <a:rPr lang="en"/>
              <a:t>preliminary</a:t>
            </a:r>
            <a:r>
              <a:rPr lang="en"/>
              <a:t> findings suggested can either increase or decrease depending on the tax type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c43028ac68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c43028ac68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Jeff (?) </a:t>
            </a:r>
            <a:r>
              <a:rPr b="1" lang="en">
                <a:solidFill>
                  <a:schemeClr val="dk1"/>
                </a:solidFill>
              </a:rPr>
              <a:t>(1 min)</a:t>
            </a:r>
            <a:endParaRPr/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“We see this as a diagnostic tool.</a:t>
            </a:r>
            <a:endParaRPr/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It helps policymakers observe whether existing policies appear aligned with long-run objectives — before deciding what to change.</a:t>
            </a:r>
            <a:endParaRPr/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It doesn’t replace theory or experiments, but it adds a new perspective that’s especially useful early in the policy process.”</a:t>
            </a:r>
            <a:endParaRPr/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“In short, this framework helps policymakers observe what existing systems are already teaching the economy — before deciding what they want to teach next.”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c4359e34f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c4359e34f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Kolbe (?) - 15-30 sec</a:t>
            </a:r>
            <a:endParaRPr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Thank you for listening to our proposal, please check out our project repo for more information and detailed analysis results</a:t>
            </a:r>
            <a:endParaRPr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</a:t>
            </a:r>
            <a:endParaRPr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ttps://github.com/jeffallen007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d33b7fc4b_4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bd33b7fc4b_4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Kolbe - 45 sec</a:t>
            </a:r>
            <a:endParaRPr/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“To assess whether incentives tend to come before adaptation, we compare groups of similar states with different tax structures.</a:t>
            </a:r>
            <a:endParaRPr/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When national events affect everyone at once, we observe whether these groups diverge over time.</a:t>
            </a:r>
            <a:endParaRPr/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 doesn’t eliminate all uncertainty, but it helps us reason about directionality in a practical way.”</a:t>
            </a:r>
            <a:endParaRPr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higher tax exposure (lagged) is associated with </a:t>
            </a:r>
            <a:r>
              <a:rPr b="1" lang="en">
                <a:solidFill>
                  <a:schemeClr val="dk1"/>
                </a:solidFill>
              </a:rPr>
              <a:t>GDP per capita growth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Indicates exposure correlates with </a:t>
            </a:r>
            <a:r>
              <a:rPr b="1" lang="en">
                <a:solidFill>
                  <a:schemeClr val="dk1"/>
                </a:solidFill>
              </a:rPr>
              <a:t>sectoral diversification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Bottom line is: Outcomes like GDP growth and entropy are consistently </a:t>
            </a:r>
            <a:r>
              <a:rPr b="1" lang="en">
                <a:solidFill>
                  <a:schemeClr val="dk1"/>
                </a:solidFill>
              </a:rPr>
              <a:t>positively associated</a:t>
            </a:r>
            <a:r>
              <a:rPr lang="en">
                <a:solidFill>
                  <a:schemeClr val="dk1"/>
                </a:solidFill>
              </a:rPr>
              <a:t> with higher tax exposure.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bd33b7fc4b_4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bd33b7fc4b_4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8.jpg"/><Relationship Id="rId10" Type="http://schemas.openxmlformats.org/officeDocument/2006/relationships/image" Target="../media/image2.png"/><Relationship Id="rId9" Type="http://schemas.openxmlformats.org/officeDocument/2006/relationships/hyperlink" Target="https://github.com/sachinmurthy14641/UmichDatathon2026.git" TargetMode="External"/><Relationship Id="rId5" Type="http://schemas.openxmlformats.org/officeDocument/2006/relationships/image" Target="../media/image5.jpg"/><Relationship Id="rId6" Type="http://schemas.openxmlformats.org/officeDocument/2006/relationships/image" Target="../media/image6.png"/><Relationship Id="rId7" Type="http://schemas.openxmlformats.org/officeDocument/2006/relationships/image" Target="../media/image11.jpg"/><Relationship Id="rId8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4F6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31700" y="3100730"/>
            <a:ext cx="8280600" cy="16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2F65A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Montserrat"/>
              <a:buAutoNum type="arabicParenR"/>
            </a:pPr>
            <a:r>
              <a:rPr lang="en" sz="17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Incentives operate even when not explicitly designed </a:t>
            </a:r>
            <a:endParaRPr sz="1700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Montserrat"/>
              <a:buAutoNum type="arabicParenR"/>
            </a:pPr>
            <a:r>
              <a:rPr lang="en" sz="17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States show different long-run adaptation patterns </a:t>
            </a:r>
            <a:endParaRPr sz="1700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Montserrat"/>
              <a:buAutoNum type="arabicParenR"/>
            </a:pPr>
            <a:r>
              <a:rPr lang="en" sz="17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Findings are directional, not causal </a:t>
            </a:r>
            <a:endParaRPr sz="1700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2F65A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F65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5" name="Google Shape;55;p13" title="image (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2700" y="45900"/>
            <a:ext cx="2031299" cy="13541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197500" y="1649361"/>
            <a:ext cx="8502900" cy="16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2F65A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“State tax systems appear to act as long-run incentive environments that shape economic and demographic adaptation.”</a:t>
            </a:r>
            <a:endParaRPr sz="1800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57" name="Google Shape;57;p13"/>
          <p:cNvCxnSpPr/>
          <p:nvPr/>
        </p:nvCxnSpPr>
        <p:spPr>
          <a:xfrm>
            <a:off x="1492204" y="1966131"/>
            <a:ext cx="6159600" cy="138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" name="Google Shape;58;p13"/>
          <p:cNvSpPr txBox="1"/>
          <p:nvPr/>
        </p:nvSpPr>
        <p:spPr>
          <a:xfrm>
            <a:off x="431700" y="284325"/>
            <a:ext cx="66810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>
                <a:solidFill>
                  <a:schemeClr val="accen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+</a:t>
            </a:r>
            <a:r>
              <a:rPr lang="en" sz="3600">
                <a:solidFill>
                  <a:srgbClr val="00274C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 </a:t>
            </a:r>
            <a:r>
              <a:rPr lang="en" sz="3600">
                <a:solidFill>
                  <a:srgbClr val="3B54B9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Executive Summary</a:t>
            </a:r>
            <a:endParaRPr sz="3600">
              <a:solidFill>
                <a:srgbClr val="3B54B9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cxnSp>
        <p:nvCxnSpPr>
          <p:cNvPr id="59" name="Google Shape;59;p13"/>
          <p:cNvCxnSpPr/>
          <p:nvPr/>
        </p:nvCxnSpPr>
        <p:spPr>
          <a:xfrm>
            <a:off x="1492204" y="2942976"/>
            <a:ext cx="6159600" cy="138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" name="Google Shape;60;p13"/>
          <p:cNvSpPr txBox="1"/>
          <p:nvPr/>
        </p:nvSpPr>
        <p:spPr>
          <a:xfrm>
            <a:off x="707150" y="747860"/>
            <a:ext cx="70860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3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 </a:t>
            </a:r>
            <a:r>
              <a:rPr lang="en" sz="18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Key Findings</a:t>
            </a:r>
            <a:r>
              <a:rPr lang="en" sz="2300">
                <a:solidFill>
                  <a:srgbClr val="2445C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endParaRPr sz="2300">
              <a:solidFill>
                <a:srgbClr val="2445C8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4F6FF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/>
        </p:nvSpPr>
        <p:spPr>
          <a:xfrm>
            <a:off x="431700" y="3100730"/>
            <a:ext cx="8280600" cy="16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2F65A7"/>
                </a:solidFill>
                <a:latin typeface="Montserrat"/>
                <a:ea typeface="Montserrat"/>
                <a:cs typeface="Montserrat"/>
                <a:sym typeface="Montserrat"/>
              </a:rPr>
              <a:t>Challenges:</a:t>
            </a:r>
            <a:endParaRPr b="1" sz="1600">
              <a:solidFill>
                <a:srgbClr val="2F65A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Montserrat"/>
              <a:buAutoNum type="arabicParenR"/>
            </a:pPr>
            <a:r>
              <a:rPr lang="en" sz="17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Policy updates often precede research consensus</a:t>
            </a:r>
            <a:endParaRPr sz="1700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Montserrat"/>
              <a:buAutoNum type="arabicParenR"/>
            </a:pPr>
            <a:r>
              <a:rPr lang="en" sz="17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Economic theory is contested and value-laden </a:t>
            </a:r>
            <a:endParaRPr sz="1700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Montserrat"/>
              <a:buAutoNum type="arabicParenR"/>
            </a:pPr>
            <a:r>
              <a:rPr lang="en" sz="17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Incentives already shapes behaviour without observation</a:t>
            </a:r>
            <a:endParaRPr sz="1700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2F65A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F65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6" name="Google Shape;66;p14" title="image (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2700" y="45900"/>
            <a:ext cx="2031299" cy="1354199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/>
        </p:nvSpPr>
        <p:spPr>
          <a:xfrm>
            <a:off x="431700" y="284325"/>
            <a:ext cx="66810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>
                <a:solidFill>
                  <a:schemeClr val="accen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+</a:t>
            </a:r>
            <a:r>
              <a:rPr lang="en" sz="3600">
                <a:solidFill>
                  <a:srgbClr val="00274C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 </a:t>
            </a:r>
            <a:r>
              <a:rPr lang="en" sz="3600">
                <a:solidFill>
                  <a:srgbClr val="3B54B9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Client Problem: </a:t>
            </a:r>
            <a:endParaRPr sz="3600">
              <a:solidFill>
                <a:srgbClr val="3B54B9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707150" y="747860"/>
            <a:ext cx="70860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3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 </a:t>
            </a:r>
            <a:r>
              <a:rPr lang="en" sz="18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Decision-Making Under Uncertainty</a:t>
            </a:r>
            <a:r>
              <a:rPr lang="en" sz="2000">
                <a:solidFill>
                  <a:srgbClr val="2445C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endParaRPr sz="2000">
              <a:solidFill>
                <a:srgbClr val="2445C8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197500" y="1649344"/>
            <a:ext cx="8502900" cy="10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54B9"/>
              </a:buClr>
              <a:buSzPts val="1800"/>
              <a:buFont typeface="Montserrat SemiBold"/>
              <a:buChar char="●"/>
            </a:pPr>
            <a:r>
              <a:rPr lang="en" sz="1800">
                <a:solidFill>
                  <a:srgbClr val="3B54B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Policymakers must make long-run decisions before economic evidence is settled.</a:t>
            </a:r>
            <a:endParaRPr sz="1800">
              <a:solidFill>
                <a:srgbClr val="3B54B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70" name="Google Shape;70;p14"/>
          <p:cNvCxnSpPr/>
          <p:nvPr/>
        </p:nvCxnSpPr>
        <p:spPr>
          <a:xfrm>
            <a:off x="520104" y="1501696"/>
            <a:ext cx="6159600" cy="138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4F6FF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5" title="image (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2700" y="45900"/>
            <a:ext cx="2031299" cy="135419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 txBox="1"/>
          <p:nvPr/>
        </p:nvSpPr>
        <p:spPr>
          <a:xfrm>
            <a:off x="431700" y="284325"/>
            <a:ext cx="66810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>
                <a:solidFill>
                  <a:schemeClr val="accen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+</a:t>
            </a:r>
            <a:r>
              <a:rPr lang="en" sz="3600">
                <a:solidFill>
                  <a:srgbClr val="00274C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 </a:t>
            </a:r>
            <a:r>
              <a:rPr lang="en" sz="3600">
                <a:solidFill>
                  <a:srgbClr val="3B54B9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Dynamic Perspective</a:t>
            </a:r>
            <a:r>
              <a:rPr lang="en" sz="3600">
                <a:solidFill>
                  <a:srgbClr val="3B54B9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: </a:t>
            </a:r>
            <a:endParaRPr sz="3600">
              <a:solidFill>
                <a:srgbClr val="3B54B9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707150" y="747860"/>
            <a:ext cx="70860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3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 </a:t>
            </a:r>
            <a:r>
              <a:rPr lang="en" sz="18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A </a:t>
            </a:r>
            <a:r>
              <a:rPr lang="en" sz="18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System</a:t>
            </a:r>
            <a:r>
              <a:rPr lang="en" sz="18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 View of Policy</a:t>
            </a:r>
            <a:r>
              <a:rPr lang="en" sz="2000">
                <a:solidFill>
                  <a:srgbClr val="2445C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endParaRPr sz="2000">
              <a:solidFill>
                <a:srgbClr val="2445C8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197500" y="1649344"/>
            <a:ext cx="8502900" cy="10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54B9"/>
              </a:buClr>
              <a:buSzPts val="1800"/>
              <a:buFont typeface="Montserrat SemiBold"/>
              <a:buChar char="●"/>
            </a:pPr>
            <a:r>
              <a:rPr lang="en" sz="1800">
                <a:solidFill>
                  <a:srgbClr val="3B54B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Tax structures create incentives, and economies adapt to them gradually</a:t>
            </a:r>
            <a:endParaRPr sz="1800">
              <a:solidFill>
                <a:srgbClr val="3B54B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79" name="Google Shape;79;p15"/>
          <p:cNvCxnSpPr/>
          <p:nvPr/>
        </p:nvCxnSpPr>
        <p:spPr>
          <a:xfrm>
            <a:off x="520104" y="1501696"/>
            <a:ext cx="6159600" cy="138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" name="Google Shape;80;p15"/>
          <p:cNvSpPr/>
          <p:nvPr/>
        </p:nvSpPr>
        <p:spPr>
          <a:xfrm>
            <a:off x="891808" y="3240350"/>
            <a:ext cx="1378200" cy="1119600"/>
          </a:xfrm>
          <a:prstGeom prst="roundRect">
            <a:avLst>
              <a:gd fmla="val 16667" name="adj"/>
            </a:avLst>
          </a:prstGeom>
          <a:solidFill>
            <a:srgbClr val="3B54B9"/>
          </a:solidFill>
          <a:ln cap="flat" cmpd="sng" w="28575">
            <a:solidFill>
              <a:srgbClr val="C7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5"/>
          <p:cNvSpPr/>
          <p:nvPr/>
        </p:nvSpPr>
        <p:spPr>
          <a:xfrm>
            <a:off x="2803833" y="3240350"/>
            <a:ext cx="1378200" cy="1119600"/>
          </a:xfrm>
          <a:prstGeom prst="roundRect">
            <a:avLst>
              <a:gd fmla="val 16667" name="adj"/>
            </a:avLst>
          </a:prstGeom>
          <a:solidFill>
            <a:srgbClr val="3B54B9"/>
          </a:solidFill>
          <a:ln cap="flat" cmpd="sng" w="28575">
            <a:solidFill>
              <a:srgbClr val="C7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/>
          <p:nvPr/>
        </p:nvSpPr>
        <p:spPr>
          <a:xfrm>
            <a:off x="4715858" y="3240350"/>
            <a:ext cx="1378200" cy="1119600"/>
          </a:xfrm>
          <a:prstGeom prst="roundRect">
            <a:avLst>
              <a:gd fmla="val 16667" name="adj"/>
            </a:avLst>
          </a:prstGeom>
          <a:solidFill>
            <a:srgbClr val="3B54B9"/>
          </a:solidFill>
          <a:ln cap="flat" cmpd="sng" w="28575">
            <a:solidFill>
              <a:srgbClr val="C7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/>
          <p:nvPr/>
        </p:nvSpPr>
        <p:spPr>
          <a:xfrm>
            <a:off x="6627893" y="3240350"/>
            <a:ext cx="1378200" cy="1119600"/>
          </a:xfrm>
          <a:prstGeom prst="roundRect">
            <a:avLst>
              <a:gd fmla="val 16667" name="adj"/>
            </a:avLst>
          </a:prstGeom>
          <a:solidFill>
            <a:srgbClr val="3B54B9"/>
          </a:solidFill>
          <a:ln cap="flat" cmpd="sng" w="28575">
            <a:solidFill>
              <a:srgbClr val="C7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2302313" y="3541710"/>
            <a:ext cx="469200" cy="541500"/>
          </a:xfrm>
          <a:prstGeom prst="chevron">
            <a:avLst>
              <a:gd fmla="val 44323" name="adj"/>
            </a:avLst>
          </a:prstGeom>
          <a:solidFill>
            <a:srgbClr val="C7DEEA"/>
          </a:solidFill>
          <a:ln cap="flat" cmpd="sng" w="38100">
            <a:solidFill>
              <a:srgbClr val="A4C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5"/>
          <p:cNvSpPr/>
          <p:nvPr/>
        </p:nvSpPr>
        <p:spPr>
          <a:xfrm>
            <a:off x="4214325" y="3529410"/>
            <a:ext cx="469200" cy="541500"/>
          </a:xfrm>
          <a:prstGeom prst="chevron">
            <a:avLst>
              <a:gd fmla="val 44323" name="adj"/>
            </a:avLst>
          </a:prstGeom>
          <a:solidFill>
            <a:srgbClr val="C7DEEA"/>
          </a:solidFill>
          <a:ln cap="flat" cmpd="sng" w="38100">
            <a:solidFill>
              <a:srgbClr val="A4C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5"/>
          <p:cNvSpPr/>
          <p:nvPr/>
        </p:nvSpPr>
        <p:spPr>
          <a:xfrm>
            <a:off x="6126375" y="3529410"/>
            <a:ext cx="469200" cy="541500"/>
          </a:xfrm>
          <a:prstGeom prst="chevron">
            <a:avLst>
              <a:gd fmla="val 44323" name="adj"/>
            </a:avLst>
          </a:prstGeom>
          <a:solidFill>
            <a:srgbClr val="C7DEEA"/>
          </a:solidFill>
          <a:ln cap="flat" cmpd="sng" w="38100">
            <a:solidFill>
              <a:srgbClr val="A4C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5"/>
          <p:cNvSpPr txBox="1"/>
          <p:nvPr/>
        </p:nvSpPr>
        <p:spPr>
          <a:xfrm>
            <a:off x="963825" y="3439550"/>
            <a:ext cx="13062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Tax Structure</a:t>
            </a:r>
            <a:endParaRPr sz="1700"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2839825" y="3571850"/>
            <a:ext cx="13062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Incentives</a:t>
            </a:r>
            <a:endParaRPr sz="1700"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9" name="Google Shape;89;p15"/>
          <p:cNvSpPr txBox="1"/>
          <p:nvPr/>
        </p:nvSpPr>
        <p:spPr>
          <a:xfrm>
            <a:off x="4751850" y="3365725"/>
            <a:ext cx="13062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Firms &amp; Household Responses</a:t>
            </a:r>
            <a:endParaRPr sz="1500"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6663900" y="3240350"/>
            <a:ext cx="1306200" cy="11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Economic Structure &amp; Demograp-hics</a:t>
            </a:r>
            <a:endParaRPr sz="1500"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4F6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6" title="image (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2700" y="45900"/>
            <a:ext cx="2031299" cy="135419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 txBox="1"/>
          <p:nvPr/>
        </p:nvSpPr>
        <p:spPr>
          <a:xfrm>
            <a:off x="431700" y="284325"/>
            <a:ext cx="66810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>
                <a:solidFill>
                  <a:schemeClr val="accen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+</a:t>
            </a:r>
            <a:r>
              <a:rPr lang="en" sz="3600">
                <a:solidFill>
                  <a:srgbClr val="00274C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 </a:t>
            </a:r>
            <a:r>
              <a:rPr lang="en" sz="3600">
                <a:solidFill>
                  <a:srgbClr val="3B54B9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How We Observe Incentives</a:t>
            </a:r>
            <a:r>
              <a:rPr lang="en" sz="3600">
                <a:solidFill>
                  <a:srgbClr val="3B54B9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: </a:t>
            </a:r>
            <a:endParaRPr sz="3600">
              <a:solidFill>
                <a:srgbClr val="3B54B9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707150" y="747860"/>
            <a:ext cx="70860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3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 </a:t>
            </a:r>
            <a:r>
              <a:rPr lang="en" sz="18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Observing Unknown Collective Factors</a:t>
            </a:r>
            <a:r>
              <a:rPr lang="en" sz="2000">
                <a:solidFill>
                  <a:srgbClr val="2445C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endParaRPr sz="2000">
              <a:solidFill>
                <a:srgbClr val="2445C8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172900" y="1727850"/>
            <a:ext cx="4679400" cy="318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54B9"/>
              </a:buClr>
              <a:buSzPts val="1700"/>
              <a:buFont typeface="Montserrat SemiBold"/>
              <a:buChar char="●"/>
            </a:pPr>
            <a:r>
              <a:rPr lang="en" sz="1700">
                <a:solidFill>
                  <a:srgbClr val="3B54B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 measure incentives using what states actually collect, not what policies intend:</a:t>
            </a:r>
            <a:endParaRPr sz="1700">
              <a:solidFill>
                <a:srgbClr val="3B54B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AutoNum type="arabicParenR"/>
            </a:pPr>
            <a:r>
              <a:rPr lang="en" sz="16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Revenue</a:t>
            </a:r>
            <a:r>
              <a:rPr lang="en" sz="16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 sources grouped into broad categories</a:t>
            </a:r>
            <a:endParaRPr sz="1600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AutoNum type="arabicParenR"/>
            </a:pPr>
            <a:r>
              <a:rPr lang="en" sz="16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Focus on persistent, long-run pattern</a:t>
            </a:r>
            <a:endParaRPr sz="1600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AutoNum type="arabicParenR"/>
            </a:pPr>
            <a:r>
              <a:rPr lang="en" sz="16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Suspending</a:t>
            </a:r>
            <a:r>
              <a:rPr lang="en" sz="16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 assumptions about “good” or “bad” taxes.</a:t>
            </a:r>
            <a:endParaRPr sz="1600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B54B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99" name="Google Shape;99;p16"/>
          <p:cNvCxnSpPr/>
          <p:nvPr/>
        </p:nvCxnSpPr>
        <p:spPr>
          <a:xfrm>
            <a:off x="520104" y="1501696"/>
            <a:ext cx="6159600" cy="138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0" name="Google Shape;100;p16" title="output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2300" y="1886967"/>
            <a:ext cx="4047250" cy="28683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4F6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7" title="image (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2700" y="45900"/>
            <a:ext cx="2031299" cy="1354199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7"/>
          <p:cNvSpPr txBox="1"/>
          <p:nvPr/>
        </p:nvSpPr>
        <p:spPr>
          <a:xfrm>
            <a:off x="431700" y="284325"/>
            <a:ext cx="66810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>
                <a:solidFill>
                  <a:schemeClr val="accen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+</a:t>
            </a:r>
            <a:r>
              <a:rPr lang="en" sz="3600">
                <a:solidFill>
                  <a:srgbClr val="00274C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 </a:t>
            </a:r>
            <a:r>
              <a:rPr lang="en" sz="3600">
                <a:solidFill>
                  <a:srgbClr val="3B54B9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How We Observe Adaptation: </a:t>
            </a:r>
            <a:endParaRPr sz="3600">
              <a:solidFill>
                <a:srgbClr val="3B54B9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707150" y="747860"/>
            <a:ext cx="70860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3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 </a:t>
            </a:r>
            <a:r>
              <a:rPr lang="en" sz="18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Evolving from Growth to Progress</a:t>
            </a:r>
            <a:endParaRPr sz="2000">
              <a:solidFill>
                <a:srgbClr val="2445C8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172900" y="1727850"/>
            <a:ext cx="4679400" cy="318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54B9"/>
              </a:buClr>
              <a:buSzPts val="1700"/>
              <a:buFont typeface="Montserrat SemiBold"/>
              <a:buChar char="●"/>
            </a:pPr>
            <a:r>
              <a:rPr lang="en" sz="1700">
                <a:solidFill>
                  <a:srgbClr val="3B54B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 focus on how states change over time, not just how large or rich they are:</a:t>
            </a:r>
            <a:endParaRPr sz="1700">
              <a:solidFill>
                <a:srgbClr val="3B54B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AutoNum type="arabicParenR"/>
            </a:pPr>
            <a:r>
              <a:rPr lang="en" sz="16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Economic structure (sector mix, concentration)</a:t>
            </a:r>
            <a:endParaRPr sz="1600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AutoNum type="arabicParenR"/>
            </a:pPr>
            <a:r>
              <a:rPr lang="en" sz="16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Diversification vs specialization</a:t>
            </a:r>
            <a:endParaRPr sz="1600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AutoNum type="arabicParenR"/>
            </a:pPr>
            <a:r>
              <a:rPr lang="en" sz="16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Demographic drift (aging, </a:t>
            </a:r>
            <a:r>
              <a:rPr lang="en" sz="16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dependency</a:t>
            </a:r>
            <a:r>
              <a:rPr lang="en" sz="16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sz="1600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B54B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109" name="Google Shape;109;p17"/>
          <p:cNvCxnSpPr/>
          <p:nvPr/>
        </p:nvCxnSpPr>
        <p:spPr>
          <a:xfrm>
            <a:off x="520104" y="1501696"/>
            <a:ext cx="6159600" cy="138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" name="Google Shape;110;p17"/>
          <p:cNvSpPr txBox="1"/>
          <p:nvPr/>
        </p:nvSpPr>
        <p:spPr>
          <a:xfrm>
            <a:off x="4852300" y="1785725"/>
            <a:ext cx="4136700" cy="3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11" name="Google Shape;111;p17" title="diversification_PPT_READ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1050" y="1515500"/>
            <a:ext cx="4392950" cy="3528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4F6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8" title="image (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2700" y="45900"/>
            <a:ext cx="2031299" cy="135419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8"/>
          <p:cNvSpPr txBox="1"/>
          <p:nvPr/>
        </p:nvSpPr>
        <p:spPr>
          <a:xfrm>
            <a:off x="431700" y="284325"/>
            <a:ext cx="66810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>
                <a:solidFill>
                  <a:schemeClr val="accen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+</a:t>
            </a:r>
            <a:r>
              <a:rPr lang="en" sz="3600">
                <a:solidFill>
                  <a:srgbClr val="00274C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 </a:t>
            </a:r>
            <a:r>
              <a:rPr lang="en" sz="3600">
                <a:solidFill>
                  <a:srgbClr val="3B54B9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How We Assess Directionality: </a:t>
            </a:r>
            <a:endParaRPr sz="3600">
              <a:solidFill>
                <a:srgbClr val="3B54B9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18" name="Google Shape;118;p18"/>
          <p:cNvSpPr txBox="1"/>
          <p:nvPr/>
        </p:nvSpPr>
        <p:spPr>
          <a:xfrm>
            <a:off x="707150" y="747860"/>
            <a:ext cx="70860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3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 </a:t>
            </a:r>
            <a:r>
              <a:rPr lang="en" sz="18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Working Towards Resilience </a:t>
            </a:r>
            <a:endParaRPr sz="2000">
              <a:solidFill>
                <a:srgbClr val="2445C8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347725" y="1941300"/>
            <a:ext cx="7584000" cy="14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54B9"/>
              </a:buClr>
              <a:buSzPts val="1700"/>
              <a:buFont typeface="Montserrat SemiBold"/>
              <a:buChar char="●"/>
            </a:pPr>
            <a:r>
              <a:rPr lang="en" sz="1700">
                <a:solidFill>
                  <a:srgbClr val="3B54B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 compare groups of similar states and observe divergence after shared national events:</a:t>
            </a:r>
            <a:endParaRPr sz="1700">
              <a:solidFill>
                <a:srgbClr val="3B54B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AutoNum type="arabicParenR"/>
            </a:pPr>
            <a:r>
              <a:rPr lang="en" sz="16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Group states by similar tax structures </a:t>
            </a:r>
            <a:endParaRPr sz="1600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AutoNum type="arabicParenR"/>
            </a:pPr>
            <a:r>
              <a:rPr lang="en" sz="16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Observe differences after national shocks</a:t>
            </a:r>
            <a:endParaRPr sz="1600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AutoNum type="arabicParenR"/>
            </a:pPr>
            <a:r>
              <a:rPr lang="en" sz="16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Look for consistent patterns, not precision</a:t>
            </a:r>
            <a:endParaRPr sz="1600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B54B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120" name="Google Shape;120;p18"/>
          <p:cNvCxnSpPr/>
          <p:nvPr/>
        </p:nvCxnSpPr>
        <p:spPr>
          <a:xfrm>
            <a:off x="520104" y="1501696"/>
            <a:ext cx="6159600" cy="138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" name="Google Shape;121;p18"/>
          <p:cNvSpPr txBox="1"/>
          <p:nvPr/>
        </p:nvSpPr>
        <p:spPr>
          <a:xfrm>
            <a:off x="6742975" y="1941300"/>
            <a:ext cx="3528900" cy="31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122" name="Google Shape;122;p18" title="Screenshot 2026-02-05 at 6.51.09 P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0100" y="3415824"/>
            <a:ext cx="7085998" cy="1561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4F6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9" title="image (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2700" y="45900"/>
            <a:ext cx="2031299" cy="135419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9"/>
          <p:cNvSpPr txBox="1"/>
          <p:nvPr/>
        </p:nvSpPr>
        <p:spPr>
          <a:xfrm>
            <a:off x="431700" y="284325"/>
            <a:ext cx="66810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>
                <a:solidFill>
                  <a:schemeClr val="accen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+</a:t>
            </a:r>
            <a:r>
              <a:rPr lang="en" sz="3600">
                <a:solidFill>
                  <a:srgbClr val="00274C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 </a:t>
            </a:r>
            <a:r>
              <a:rPr lang="en" sz="3600">
                <a:solidFill>
                  <a:srgbClr val="3B54B9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When Results Are Mixed</a:t>
            </a:r>
            <a:r>
              <a:rPr lang="en" sz="3600">
                <a:solidFill>
                  <a:srgbClr val="3B54B9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: </a:t>
            </a:r>
            <a:endParaRPr sz="3600">
              <a:solidFill>
                <a:srgbClr val="3B54B9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707150" y="747860"/>
            <a:ext cx="70860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3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 </a:t>
            </a:r>
            <a:r>
              <a:rPr lang="en" sz="18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Absence as Information </a:t>
            </a:r>
            <a:r>
              <a:rPr lang="en" sz="18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000">
              <a:solidFill>
                <a:srgbClr val="2445C8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130" name="Google Shape;130;p19"/>
          <p:cNvCxnSpPr/>
          <p:nvPr/>
        </p:nvCxnSpPr>
        <p:spPr>
          <a:xfrm>
            <a:off x="520104" y="1501696"/>
            <a:ext cx="6159600" cy="138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" name="Google Shape;131;p19"/>
          <p:cNvSpPr txBox="1"/>
          <p:nvPr/>
        </p:nvSpPr>
        <p:spPr>
          <a:xfrm>
            <a:off x="431700" y="3100730"/>
            <a:ext cx="8280600" cy="16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2F65A7"/>
                </a:solidFill>
                <a:latin typeface="Montserrat"/>
                <a:ea typeface="Montserrat"/>
                <a:cs typeface="Montserrat"/>
                <a:sym typeface="Montserrat"/>
              </a:rPr>
              <a:t>Why is it important?</a:t>
            </a:r>
            <a:endParaRPr b="1" sz="1600">
              <a:solidFill>
                <a:srgbClr val="2F65A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Montserrat"/>
              <a:buAutoNum type="arabicParenR"/>
            </a:pPr>
            <a:r>
              <a:rPr lang="en" sz="17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Some incentives align with outcomes</a:t>
            </a:r>
            <a:endParaRPr sz="1700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Montserrat"/>
              <a:buAutoNum type="arabicParenR"/>
            </a:pPr>
            <a:r>
              <a:rPr lang="en" sz="17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Others show weakness or no association </a:t>
            </a:r>
            <a:endParaRPr sz="1700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Montserrat"/>
              <a:buAutoNum type="arabicParenR"/>
            </a:pPr>
            <a:r>
              <a:rPr lang="en" sz="17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Narrows the range of plausible policy narratives</a:t>
            </a:r>
            <a:endParaRPr sz="1700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2F65A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F65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" name="Google Shape;132;p19"/>
          <p:cNvSpPr txBox="1"/>
          <p:nvPr/>
        </p:nvSpPr>
        <p:spPr>
          <a:xfrm>
            <a:off x="197500" y="1649344"/>
            <a:ext cx="8502900" cy="10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54B9"/>
              </a:buClr>
              <a:buSzPts val="1800"/>
              <a:buFont typeface="Montserrat SemiBold"/>
              <a:buChar char="●"/>
            </a:pPr>
            <a:r>
              <a:rPr lang="en" sz="1800">
                <a:solidFill>
                  <a:srgbClr val="3B54B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Knowing where incentives do not appear to matter is also valuable.</a:t>
            </a:r>
            <a:endParaRPr sz="1800">
              <a:solidFill>
                <a:srgbClr val="3B54B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4F6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0" title="image (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2700" y="45900"/>
            <a:ext cx="2031299" cy="1354199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0"/>
          <p:cNvSpPr txBox="1"/>
          <p:nvPr/>
        </p:nvSpPr>
        <p:spPr>
          <a:xfrm>
            <a:off x="431700" y="284325"/>
            <a:ext cx="66810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>
                <a:solidFill>
                  <a:schemeClr val="accen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+</a:t>
            </a:r>
            <a:r>
              <a:rPr lang="en" sz="3600">
                <a:solidFill>
                  <a:srgbClr val="00274C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 </a:t>
            </a:r>
            <a:r>
              <a:rPr lang="en" sz="3600">
                <a:solidFill>
                  <a:srgbClr val="3B54B9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Framework for Policymakers</a:t>
            </a:r>
            <a:r>
              <a:rPr lang="en" sz="3600">
                <a:solidFill>
                  <a:srgbClr val="3B54B9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: </a:t>
            </a:r>
            <a:endParaRPr sz="3600">
              <a:solidFill>
                <a:srgbClr val="3B54B9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39" name="Google Shape;139;p20"/>
          <p:cNvSpPr txBox="1"/>
          <p:nvPr/>
        </p:nvSpPr>
        <p:spPr>
          <a:xfrm>
            <a:off x="707150" y="747860"/>
            <a:ext cx="70860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3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 </a:t>
            </a:r>
            <a:r>
              <a:rPr lang="en" sz="18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 Navigating Uncertainty</a:t>
            </a:r>
            <a:r>
              <a:rPr lang="en" sz="18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  </a:t>
            </a:r>
            <a:endParaRPr sz="2000">
              <a:solidFill>
                <a:srgbClr val="2445C8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140" name="Google Shape;140;p20"/>
          <p:cNvCxnSpPr/>
          <p:nvPr/>
        </p:nvCxnSpPr>
        <p:spPr>
          <a:xfrm>
            <a:off x="520104" y="1501696"/>
            <a:ext cx="6159600" cy="138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" name="Google Shape;141;p20"/>
          <p:cNvSpPr txBox="1"/>
          <p:nvPr/>
        </p:nvSpPr>
        <p:spPr>
          <a:xfrm>
            <a:off x="197500" y="1649344"/>
            <a:ext cx="8502900" cy="10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54B9"/>
              </a:buClr>
              <a:buSzPts val="1800"/>
              <a:buFont typeface="Montserrat SemiBold"/>
              <a:buChar char="●"/>
            </a:pPr>
            <a:r>
              <a:rPr lang="en" sz="1800">
                <a:solidFill>
                  <a:srgbClr val="3B54B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This framework adds a diagnostic </a:t>
            </a:r>
            <a:r>
              <a:rPr lang="en" sz="1800">
                <a:solidFill>
                  <a:srgbClr val="3B54B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lens</a:t>
            </a:r>
            <a:r>
              <a:rPr lang="en" sz="1800">
                <a:solidFill>
                  <a:srgbClr val="3B54B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to the policymaker’s toolkit.</a:t>
            </a:r>
            <a:endParaRPr sz="1800">
              <a:solidFill>
                <a:srgbClr val="3B54B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aphicFrame>
        <p:nvGraphicFramePr>
          <p:cNvPr id="142" name="Google Shape;142;p20"/>
          <p:cNvGraphicFramePr/>
          <p:nvPr/>
        </p:nvGraphicFramePr>
        <p:xfrm>
          <a:off x="952500" y="26701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{646908FC-2A9B-43EF-A094-91ACEE9BDE7E}</a:tableStyleId>
              </a:tblPr>
              <a:tblGrid>
                <a:gridCol w="3619500"/>
                <a:gridCol w="3619500"/>
              </a:tblGrid>
              <a:tr h="285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E4F6FF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Enables </a:t>
                      </a:r>
                      <a:endParaRPr>
                        <a:solidFill>
                          <a:srgbClr val="E4F6FF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E4F6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4F6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4F6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4F6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54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E4F6FF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Does Not</a:t>
                      </a:r>
                      <a:endParaRPr>
                        <a:solidFill>
                          <a:srgbClr val="E4F6FF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E4F6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4F6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4F6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4F6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54B9"/>
                    </a:solidFill>
                  </a:tcPr>
                </a:tc>
              </a:tr>
              <a:tr h="1180075">
                <a:tc>
                  <a:txBody>
                    <a:bodyPr/>
                    <a:lstStyle/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Char char="●"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Observe long-run incentive alignment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Char char="●"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Compare policy environments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Char char="●"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Surface misalignments early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E4F6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4F6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4F6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4F6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DEEA"/>
                    </a:solidFill>
                  </a:tcPr>
                </a:tc>
                <a:tc>
                  <a:txBody>
                    <a:bodyPr/>
                    <a:lstStyle/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Char char="●"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Prescribe tax changes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Char char="●"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Claim cause-and-effect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Char char="●"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Replace detailed policy studies</a:t>
                      </a:r>
                      <a:endParaRPr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E4F6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4F6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4F6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4F6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DE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4F6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1" title="image (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2700" y="45900"/>
            <a:ext cx="2031299" cy="1354199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1"/>
          <p:cNvSpPr txBox="1"/>
          <p:nvPr/>
        </p:nvSpPr>
        <p:spPr>
          <a:xfrm>
            <a:off x="431700" y="284325"/>
            <a:ext cx="66810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>
                <a:solidFill>
                  <a:schemeClr val="accen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+</a:t>
            </a:r>
            <a:r>
              <a:rPr lang="en" sz="3600">
                <a:solidFill>
                  <a:srgbClr val="00274C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 </a:t>
            </a:r>
            <a:r>
              <a:rPr lang="en" sz="3600">
                <a:solidFill>
                  <a:srgbClr val="3B54B9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Appendix</a:t>
            </a:r>
            <a:r>
              <a:rPr lang="en" sz="3600">
                <a:solidFill>
                  <a:srgbClr val="3B54B9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: </a:t>
            </a:r>
            <a:endParaRPr sz="3600">
              <a:solidFill>
                <a:srgbClr val="3B54B9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49" name="Google Shape;149;p21"/>
          <p:cNvSpPr txBox="1"/>
          <p:nvPr/>
        </p:nvSpPr>
        <p:spPr>
          <a:xfrm>
            <a:off x="707150" y="747860"/>
            <a:ext cx="70860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3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 </a:t>
            </a:r>
            <a:r>
              <a:rPr lang="en" sz="18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 Meet Team 37 </a:t>
            </a:r>
            <a:endParaRPr sz="2000">
              <a:solidFill>
                <a:srgbClr val="2445C8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50" name="Google Shape;150;p21" title="CBO PORTRAITS_22.JPG.jpeg"/>
          <p:cNvPicPr preferRelativeResize="0"/>
          <p:nvPr/>
        </p:nvPicPr>
        <p:blipFill rotWithShape="1">
          <a:blip r:embed="rId4">
            <a:alphaModFix/>
          </a:blip>
          <a:srcRect b="17328" l="0" r="0" t="17328"/>
          <a:stretch/>
        </p:blipFill>
        <p:spPr>
          <a:xfrm>
            <a:off x="1633265" y="1922750"/>
            <a:ext cx="1380000" cy="1352700"/>
          </a:xfrm>
          <a:prstGeom prst="diamond">
            <a:avLst/>
          </a:prstGeom>
          <a:noFill/>
          <a:ln cap="flat" cmpd="sng" w="70500">
            <a:solidFill>
              <a:srgbClr val="ABC1CD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1" name="Google Shape;151;p21" title="JeffAllen_ProfilePic.jpeg"/>
          <p:cNvPicPr preferRelativeResize="0"/>
          <p:nvPr/>
        </p:nvPicPr>
        <p:blipFill rotWithShape="1">
          <a:blip r:embed="rId5">
            <a:alphaModFix/>
          </a:blip>
          <a:srcRect b="990" l="0" r="0" t="990"/>
          <a:stretch/>
        </p:blipFill>
        <p:spPr>
          <a:xfrm>
            <a:off x="3818900" y="1922750"/>
            <a:ext cx="1380000" cy="1352700"/>
          </a:xfrm>
          <a:prstGeom prst="diamond">
            <a:avLst/>
          </a:prstGeom>
          <a:noFill/>
          <a:ln cap="flat" cmpd="sng" w="70500">
            <a:solidFill>
              <a:srgbClr val="ABC1CD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2" name="Google Shape;152;p21" title="Picture1.png"/>
          <p:cNvPicPr preferRelativeResize="0"/>
          <p:nvPr/>
        </p:nvPicPr>
        <p:blipFill rotWithShape="1">
          <a:blip r:embed="rId6">
            <a:alphaModFix/>
          </a:blip>
          <a:srcRect b="0" l="758" r="758" t="0"/>
          <a:stretch/>
        </p:blipFill>
        <p:spPr>
          <a:xfrm>
            <a:off x="2723317" y="2954410"/>
            <a:ext cx="1380000" cy="1352700"/>
          </a:xfrm>
          <a:prstGeom prst="diamond">
            <a:avLst/>
          </a:prstGeom>
          <a:noFill/>
          <a:ln cap="flat" cmpd="sng" w="70500">
            <a:solidFill>
              <a:srgbClr val="ABC1CD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3" name="Google Shape;153;p21" title="WhatsApp Image 2026-02-05 at 9.22.38 PM.jpeg"/>
          <p:cNvPicPr preferRelativeResize="0"/>
          <p:nvPr/>
        </p:nvPicPr>
        <p:blipFill rotWithShape="1">
          <a:blip r:embed="rId7">
            <a:alphaModFix/>
          </a:blip>
          <a:srcRect b="11754" l="-8100" r="8099" t="14732"/>
          <a:stretch/>
        </p:blipFill>
        <p:spPr>
          <a:xfrm>
            <a:off x="6004525" y="1922750"/>
            <a:ext cx="1380000" cy="1352700"/>
          </a:xfrm>
          <a:prstGeom prst="diamond">
            <a:avLst/>
          </a:prstGeom>
          <a:noFill/>
          <a:ln cap="flat" cmpd="sng" w="70500">
            <a:solidFill>
              <a:srgbClr val="ABC1CD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4" name="Google Shape;154;p21" title="icon-7797704_640.png"/>
          <p:cNvPicPr preferRelativeResize="0"/>
          <p:nvPr/>
        </p:nvPicPr>
        <p:blipFill rotWithShape="1">
          <a:blip r:embed="rId8">
            <a:alphaModFix/>
          </a:blip>
          <a:srcRect b="990" l="0" r="0" t="990"/>
          <a:stretch/>
        </p:blipFill>
        <p:spPr>
          <a:xfrm>
            <a:off x="4908950" y="2954410"/>
            <a:ext cx="1380000" cy="1352700"/>
          </a:xfrm>
          <a:prstGeom prst="diamond">
            <a:avLst/>
          </a:prstGeom>
          <a:noFill/>
          <a:ln cap="flat" cmpd="sng" w="70500">
            <a:solidFill>
              <a:srgbClr val="ABC1CD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5" name="Google Shape;155;p21"/>
          <p:cNvSpPr txBox="1"/>
          <p:nvPr/>
        </p:nvSpPr>
        <p:spPr>
          <a:xfrm>
            <a:off x="253265" y="1619850"/>
            <a:ext cx="18030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3B54B9"/>
                </a:solidFill>
                <a:latin typeface="Montserrat"/>
                <a:ea typeface="Montserrat"/>
                <a:cs typeface="Montserrat"/>
                <a:sym typeface="Montserrat"/>
              </a:rPr>
              <a:t>Lina Al-Rawahi</a:t>
            </a:r>
            <a:endParaRPr b="1" sz="1500">
              <a:solidFill>
                <a:srgbClr val="3B54B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E9E9E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UMSI</a:t>
            </a:r>
            <a:r>
              <a:rPr lang="en" sz="1200">
                <a:solidFill>
                  <a:srgbClr val="3B54B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" sz="1200">
                <a:solidFill>
                  <a:srgbClr val="9E9E9E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 MADS</a:t>
            </a:r>
            <a:endParaRPr sz="1200">
              <a:solidFill>
                <a:srgbClr val="9E9E9E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E9E9E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Research Analyst </a:t>
            </a:r>
            <a:endParaRPr sz="1200">
              <a:solidFill>
                <a:srgbClr val="9E9E9E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6" name="Google Shape;156;p21"/>
          <p:cNvSpPr txBox="1"/>
          <p:nvPr/>
        </p:nvSpPr>
        <p:spPr>
          <a:xfrm>
            <a:off x="920315" y="4012650"/>
            <a:ext cx="18030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3B54B9"/>
                </a:solidFill>
                <a:latin typeface="Montserrat"/>
                <a:ea typeface="Montserrat"/>
                <a:cs typeface="Montserrat"/>
                <a:sym typeface="Montserrat"/>
              </a:rPr>
              <a:t>Sachin Murthy</a:t>
            </a:r>
            <a:endParaRPr b="1" sz="1500">
              <a:solidFill>
                <a:srgbClr val="3B54B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E9E9E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UMSI</a:t>
            </a:r>
            <a:r>
              <a:rPr lang="en" sz="1200">
                <a:solidFill>
                  <a:srgbClr val="3B54B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" sz="1200">
                <a:solidFill>
                  <a:srgbClr val="9E9E9E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 MADS </a:t>
            </a:r>
            <a:endParaRPr sz="1200">
              <a:solidFill>
                <a:srgbClr val="9E9E9E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E9E9E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Data Scientist</a:t>
            </a:r>
            <a:endParaRPr sz="1200">
              <a:solidFill>
                <a:srgbClr val="9E9E9E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7" name="Google Shape;157;p21"/>
          <p:cNvSpPr txBox="1"/>
          <p:nvPr/>
        </p:nvSpPr>
        <p:spPr>
          <a:xfrm>
            <a:off x="3091338" y="1071970"/>
            <a:ext cx="28296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3B54B9"/>
                </a:solidFill>
                <a:latin typeface="Montserrat"/>
                <a:ea typeface="Montserrat"/>
                <a:cs typeface="Montserrat"/>
                <a:sym typeface="Montserrat"/>
              </a:rPr>
              <a:t>Jeffrey Allen</a:t>
            </a:r>
            <a:endParaRPr b="1" sz="1500">
              <a:solidFill>
                <a:srgbClr val="3B54B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E9E9E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UMSI</a:t>
            </a:r>
            <a:r>
              <a:rPr lang="en" sz="1200">
                <a:solidFill>
                  <a:srgbClr val="3B54B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" sz="1200">
                <a:solidFill>
                  <a:srgbClr val="9E9E9E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 MADS</a:t>
            </a:r>
            <a:endParaRPr sz="1200">
              <a:solidFill>
                <a:srgbClr val="9E9E9E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9E9E9E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" sz="1200">
                <a:solidFill>
                  <a:srgbClr val="9E9E9E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Data Scientist / Product Leader</a:t>
            </a:r>
            <a:endParaRPr sz="1200">
              <a:solidFill>
                <a:srgbClr val="9E9E9E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8" name="Google Shape;158;p21"/>
          <p:cNvSpPr txBox="1"/>
          <p:nvPr/>
        </p:nvSpPr>
        <p:spPr>
          <a:xfrm>
            <a:off x="7112700" y="1619848"/>
            <a:ext cx="18030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3B54B9"/>
                </a:solidFill>
                <a:latin typeface="Montserrat"/>
                <a:ea typeface="Montserrat"/>
                <a:cs typeface="Montserrat"/>
                <a:sym typeface="Montserrat"/>
              </a:rPr>
              <a:t>Kolbe Sussman</a:t>
            </a:r>
            <a:endParaRPr b="1" sz="1500">
              <a:solidFill>
                <a:srgbClr val="3B54B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E9E9E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UMSI</a:t>
            </a:r>
            <a:r>
              <a:rPr lang="en" sz="1200">
                <a:solidFill>
                  <a:srgbClr val="3B54B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" sz="1200">
                <a:solidFill>
                  <a:srgbClr val="9E9E9E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 MADS</a:t>
            </a:r>
            <a:endParaRPr sz="1500">
              <a:solidFill>
                <a:srgbClr val="9E9E9E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E9E9E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Researcher/</a:t>
            </a:r>
            <a:r>
              <a:rPr lang="en" sz="1500">
                <a:solidFill>
                  <a:srgbClr val="9E9E9E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</a:t>
            </a:r>
            <a:endParaRPr sz="1500">
              <a:solidFill>
                <a:srgbClr val="9E9E9E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E9E9E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U-M ADVANCE</a:t>
            </a:r>
            <a:endParaRPr sz="1200">
              <a:solidFill>
                <a:srgbClr val="9E9E9E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9" name="Google Shape;159;p21"/>
          <p:cNvSpPr txBox="1"/>
          <p:nvPr/>
        </p:nvSpPr>
        <p:spPr>
          <a:xfrm>
            <a:off x="6288950" y="4012650"/>
            <a:ext cx="21573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3B54B9"/>
                </a:solidFill>
                <a:latin typeface="Montserrat"/>
                <a:ea typeface="Montserrat"/>
                <a:cs typeface="Montserrat"/>
                <a:sym typeface="Montserrat"/>
              </a:rPr>
              <a:t>Ushasree Jakilinki</a:t>
            </a:r>
            <a:endParaRPr b="1" sz="1500">
              <a:solidFill>
                <a:srgbClr val="3B54B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E9E9E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UMSI</a:t>
            </a:r>
            <a:r>
              <a:rPr lang="en" sz="1200">
                <a:solidFill>
                  <a:srgbClr val="3B54B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" sz="1200">
                <a:solidFill>
                  <a:srgbClr val="9E9E9E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 MADS </a:t>
            </a:r>
            <a:endParaRPr sz="1200">
              <a:solidFill>
                <a:srgbClr val="9E9E9E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60" name="Google Shape;160;p21">
            <a:hlinkClick r:id="rId9"/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132838" y="3712857"/>
            <a:ext cx="746592" cy="74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1"/>
          <p:cNvSpPr txBox="1"/>
          <p:nvPr/>
        </p:nvSpPr>
        <p:spPr>
          <a:xfrm>
            <a:off x="3816138" y="4316652"/>
            <a:ext cx="1380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3B54B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9E9E9E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Project Repo</a:t>
            </a:r>
            <a:endParaRPr sz="1300">
              <a:solidFill>
                <a:srgbClr val="9E9E9E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4F6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2"/>
          <p:cNvSpPr/>
          <p:nvPr/>
        </p:nvSpPr>
        <p:spPr>
          <a:xfrm>
            <a:off x="5480050" y="1689100"/>
            <a:ext cx="2965500" cy="3117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22" title="image (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2700" y="45900"/>
            <a:ext cx="2031299" cy="1354199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2"/>
          <p:cNvSpPr txBox="1"/>
          <p:nvPr/>
        </p:nvSpPr>
        <p:spPr>
          <a:xfrm>
            <a:off x="431700" y="284325"/>
            <a:ext cx="66810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>
                <a:solidFill>
                  <a:schemeClr val="accen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+</a:t>
            </a:r>
            <a:r>
              <a:rPr lang="en" sz="3600">
                <a:solidFill>
                  <a:srgbClr val="00274C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 </a:t>
            </a:r>
            <a:r>
              <a:rPr lang="en" sz="3600">
                <a:solidFill>
                  <a:srgbClr val="3B54B9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How We Assess Directionality: </a:t>
            </a:r>
            <a:endParaRPr sz="3600">
              <a:solidFill>
                <a:srgbClr val="3B54B9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69" name="Google Shape;169;p22"/>
          <p:cNvSpPr txBox="1"/>
          <p:nvPr/>
        </p:nvSpPr>
        <p:spPr>
          <a:xfrm>
            <a:off x="707150" y="747860"/>
            <a:ext cx="70860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3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 </a:t>
            </a:r>
            <a:r>
              <a:rPr lang="en" sz="18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Working Towards Resilience </a:t>
            </a:r>
            <a:endParaRPr sz="2000">
              <a:solidFill>
                <a:srgbClr val="2445C8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70" name="Google Shape;170;p22"/>
          <p:cNvSpPr txBox="1"/>
          <p:nvPr/>
        </p:nvSpPr>
        <p:spPr>
          <a:xfrm>
            <a:off x="172900" y="1727850"/>
            <a:ext cx="4679400" cy="318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54B9"/>
              </a:buClr>
              <a:buSzPts val="1700"/>
              <a:buFont typeface="Montserrat SemiBold"/>
              <a:buChar char="●"/>
            </a:pPr>
            <a:r>
              <a:rPr lang="en" sz="1700">
                <a:solidFill>
                  <a:srgbClr val="3B54B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 compare groups of similar states and observe divergence after shared national events:</a:t>
            </a:r>
            <a:endParaRPr sz="1700">
              <a:solidFill>
                <a:srgbClr val="3B54B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AutoNum type="arabicParenR"/>
            </a:pPr>
            <a:r>
              <a:rPr lang="en" sz="16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Group states by similar tax structures </a:t>
            </a:r>
            <a:endParaRPr sz="1600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AutoNum type="arabicParenR"/>
            </a:pPr>
            <a:r>
              <a:rPr lang="en" sz="16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Observe differences after national shocks</a:t>
            </a:r>
            <a:endParaRPr sz="1600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AutoNum type="arabicParenR"/>
            </a:pPr>
            <a:r>
              <a:rPr lang="en" sz="16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Look for consistent patterns, not precision</a:t>
            </a:r>
            <a:endParaRPr sz="1600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B54B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171" name="Google Shape;171;p22"/>
          <p:cNvCxnSpPr/>
          <p:nvPr/>
        </p:nvCxnSpPr>
        <p:spPr>
          <a:xfrm>
            <a:off x="520104" y="1501696"/>
            <a:ext cx="6159600" cy="138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" name="Google Shape;172;p22"/>
          <p:cNvSpPr txBox="1"/>
          <p:nvPr/>
        </p:nvSpPr>
        <p:spPr>
          <a:xfrm>
            <a:off x="5406000" y="1515500"/>
            <a:ext cx="3528900" cy="31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173" name="Google Shape;173;p22" title="delta_gdp_per_capita_lag8_cohort_plot.png"/>
          <p:cNvPicPr preferRelativeResize="0"/>
          <p:nvPr/>
        </p:nvPicPr>
        <p:blipFill rotWithShape="1">
          <a:blip r:embed="rId4">
            <a:alphaModFix/>
          </a:blip>
          <a:srcRect b="0" l="0" r="0" t="8037"/>
          <a:stretch/>
        </p:blipFill>
        <p:spPr>
          <a:xfrm>
            <a:off x="5722725" y="1776700"/>
            <a:ext cx="2601100" cy="149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2" title="econ_entropy_norm_cohort_plot.png"/>
          <p:cNvPicPr preferRelativeResize="0"/>
          <p:nvPr/>
        </p:nvPicPr>
        <p:blipFill rotWithShape="1">
          <a:blip r:embed="rId5">
            <a:alphaModFix/>
          </a:blip>
          <a:srcRect b="0" l="0" r="0" t="8037"/>
          <a:stretch/>
        </p:blipFill>
        <p:spPr>
          <a:xfrm>
            <a:off x="5722713" y="3271800"/>
            <a:ext cx="2601126" cy="149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2"/>
          <p:cNvSpPr txBox="1"/>
          <p:nvPr/>
        </p:nvSpPr>
        <p:spPr>
          <a:xfrm rot="-5400000">
            <a:off x="5050325" y="2236850"/>
            <a:ext cx="12510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Change in GDP per Capita (lag)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76" name="Google Shape;176;p22"/>
          <p:cNvSpPr txBox="1"/>
          <p:nvPr/>
        </p:nvSpPr>
        <p:spPr>
          <a:xfrm rot="-5400000">
            <a:off x="5047175" y="3738650"/>
            <a:ext cx="12573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Economic Entropy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4F6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3" title="image (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2700" y="45900"/>
            <a:ext cx="2031299" cy="1354199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3"/>
          <p:cNvSpPr txBox="1"/>
          <p:nvPr/>
        </p:nvSpPr>
        <p:spPr>
          <a:xfrm>
            <a:off x="197500" y="1605387"/>
            <a:ext cx="8502900" cy="6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“</a:t>
            </a:r>
            <a:r>
              <a:rPr lang="en" sz="16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Persistent tax incentives influence how state economies adapt over years, rewarding some structures while locking others into low-growth paths.</a:t>
            </a:r>
            <a:r>
              <a:rPr lang="en" sz="16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”</a:t>
            </a:r>
            <a:endParaRPr sz="1600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183" name="Google Shape;183;p23"/>
          <p:cNvCxnSpPr/>
          <p:nvPr/>
        </p:nvCxnSpPr>
        <p:spPr>
          <a:xfrm>
            <a:off x="1492204" y="1480731"/>
            <a:ext cx="6159600" cy="138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" name="Google Shape;184;p23"/>
          <p:cNvSpPr txBox="1"/>
          <p:nvPr/>
        </p:nvSpPr>
        <p:spPr>
          <a:xfrm>
            <a:off x="431700" y="284325"/>
            <a:ext cx="66810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>
                <a:solidFill>
                  <a:schemeClr val="accen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+</a:t>
            </a:r>
            <a:r>
              <a:rPr lang="en" sz="3600">
                <a:solidFill>
                  <a:srgbClr val="00274C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 </a:t>
            </a:r>
            <a:r>
              <a:rPr lang="en" sz="3600">
                <a:solidFill>
                  <a:srgbClr val="3B54B9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For In Depth Research</a:t>
            </a:r>
            <a:endParaRPr sz="3600">
              <a:solidFill>
                <a:srgbClr val="3B54B9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cxnSp>
        <p:nvCxnSpPr>
          <p:cNvPr id="185" name="Google Shape;185;p23"/>
          <p:cNvCxnSpPr/>
          <p:nvPr/>
        </p:nvCxnSpPr>
        <p:spPr>
          <a:xfrm>
            <a:off x="1492204" y="2312051"/>
            <a:ext cx="6159600" cy="138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" name="Google Shape;186;p23"/>
          <p:cNvSpPr txBox="1"/>
          <p:nvPr/>
        </p:nvSpPr>
        <p:spPr>
          <a:xfrm>
            <a:off x="707150" y="747860"/>
            <a:ext cx="70860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3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 </a:t>
            </a:r>
            <a:r>
              <a:rPr lang="en" sz="18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Key Takeaway</a:t>
            </a:r>
            <a:r>
              <a:rPr lang="en" sz="2300">
                <a:solidFill>
                  <a:srgbClr val="2445C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endParaRPr sz="2300">
              <a:solidFill>
                <a:srgbClr val="2445C8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87" name="Google Shape;187;p23"/>
          <p:cNvSpPr txBox="1"/>
          <p:nvPr/>
        </p:nvSpPr>
        <p:spPr>
          <a:xfrm>
            <a:off x="308650" y="2651479"/>
            <a:ext cx="82806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2F65A7"/>
                </a:solidFill>
                <a:latin typeface="Montserrat"/>
                <a:ea typeface="Montserrat"/>
                <a:cs typeface="Montserrat"/>
                <a:sym typeface="Montserrat"/>
              </a:rPr>
              <a:t>Initial Findings:</a:t>
            </a:r>
            <a:endParaRPr b="1" sz="1600">
              <a:solidFill>
                <a:srgbClr val="2F65A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F65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8" name="Google Shape;188;p23" title="Screenshot 2026-02-05 at 6.51.09 P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8650" y="3033975"/>
            <a:ext cx="7448273" cy="164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