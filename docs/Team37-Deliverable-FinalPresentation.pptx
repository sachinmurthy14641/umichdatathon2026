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  <p:embeddedFont>
      <p:font typeface="Oswald SemiBo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13346E-2D16-4EFC-AF66-7D4374C97859}">
  <a:tblStyle styleId="{9113346E-2D16-4EFC-AF66-7D4374C978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28" Type="http://schemas.openxmlformats.org/officeDocument/2006/relationships/font" Target="fonts/OswaldSemiBold-bold.fntdata"/><Relationship Id="rId27" Type="http://schemas.openxmlformats.org/officeDocument/2006/relationships/font" Target="fonts/Oswald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db82d4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db82d4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“We were asked to help policymakers understand whether tax systems do more than raise revenue.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finding is that tax systems appear to function as long-run incentive environments. These incentives aren’t always intentional, but they persist, and over time states adapt to them in different ways.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We’re not claiming cause-and-effect — but the patterns are strong enough to inform policy thinking.”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43028ac6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43028ac6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“From a policymaker’s perspective, decisions can’t wait for perfect evidence.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Tax policies are implemented years before the research community agrees on their effects. At the same time, incentives operate continuously — whether or not they’re explicitly acknowledged.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creates a gap: we lack tools that help observe how existing policy environments are actually shaping outcomes over time.”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43028ac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43028ac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“We approach this as a system, not a one-off policy change.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Tax structures shape relative payoffs. Firms and households respond gradually. Over time, these responses accumulate and reshape the economic mix and population structure of a state.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a slow process — which is why it’s often hard to see using traditional short-term evaluation methods.”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43028ac6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43028ac6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“Rather than debating tax intent or statutory design, we focus on what states actually collect revenue from over time.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Revenue composition shows which activities are being consistently taxed — and therefore implicitly rewarded or discouraged.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lets us observe incentives without taking a position on economic theory or policy goals.”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3028ac6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43028ac6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“Instead of focusing on GDP levels or short-term growth, we look at structural change.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Are state economies becoming more concentrated or more diversified? Are populations aging faster?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are outcomes that matter for long-run resilience and fiscal sustainability — and they align closely with policy goals.”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43028ac68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43028ac68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“To assess whether incentives tend to come before adaptation, we compare groups of similar states with different tax structures.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When national events affect everyone at once, we observe whether these groups diverge over time.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doesn’t eliminate all uncertainty, but it helps us reason about directionality in a practical way.”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43028ac6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43028ac6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“An important point is that mixed or null results are still informative.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 complex system, learning where incentives don’t seem to drive outcomes helps policymakers avoid overconfidence and misdirected interventions.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reduces decision risk by narrowing the set of plausible policy stories.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43028ac6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43028ac6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“We see this as a diagnostic tool.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helps policymakers observe whether existing policies appear aligned with long-run objectives — before deciding what to change.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doesn’t replace theory or experiments, but it adds a new perspective that’s especially useful early in the policy process.”</a:t>
            </a:r>
            <a:endParaRPr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“In short, this framework helps policymakers observe what existing systems are already teaching the economy — before deciding what they want to teach next.”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Incentives operate even when not explicitly designed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Stated show different long-run adaptation patterns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Findings are directional, not causal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13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97500" y="1649361"/>
            <a:ext cx="85029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“State tax systems appear to act as long-run incentive environments that shape economic and demographic adaptation.”</a:t>
            </a:r>
            <a:endParaRPr sz="18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492204" y="1966131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Executive Summary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cxnSp>
        <p:nvCxnSpPr>
          <p:cNvPr id="59" name="Google Shape;59;p13"/>
          <p:cNvCxnSpPr/>
          <p:nvPr/>
        </p:nvCxnSpPr>
        <p:spPr>
          <a:xfrm>
            <a:off x="1492204" y="294297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3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Key Findings</a:t>
            </a:r>
            <a:r>
              <a:rPr lang="en" sz="23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3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5A7"/>
                </a:solidFill>
                <a:latin typeface="Montserrat"/>
                <a:ea typeface="Montserrat"/>
                <a:cs typeface="Montserrat"/>
                <a:sym typeface="Montserrat"/>
              </a:rPr>
              <a:t>Challenges:</a:t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Policy updates often precede research consensus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Economic theory is contested and value-laden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Incentives already shapes behaviour without observation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6" name="Google Shape;66;p14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Client Problem: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Decision-Making Under Uncertainty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Policymakers must make long-run decisions before economic evidence is settled.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Dynamic Perspective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System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View of Policy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Tax structures create incentives, and economies adapt to them gradually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/>
          <p:nvPr/>
        </p:nvSpPr>
        <p:spPr>
          <a:xfrm>
            <a:off x="891808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2803833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715858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627893" y="3240350"/>
            <a:ext cx="1378200" cy="1119600"/>
          </a:xfrm>
          <a:prstGeom prst="roundRect">
            <a:avLst>
              <a:gd fmla="val 16667" name="adj"/>
            </a:avLst>
          </a:prstGeom>
          <a:solidFill>
            <a:srgbClr val="3B54B9"/>
          </a:solidFill>
          <a:ln cap="flat" cmpd="sng" w="28575">
            <a:solidFill>
              <a:srgbClr val="C7DE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2302313" y="35417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214325" y="35294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6126375" y="3529410"/>
            <a:ext cx="469200" cy="541500"/>
          </a:xfrm>
          <a:prstGeom prst="chevron">
            <a:avLst>
              <a:gd fmla="val 44323" name="adj"/>
            </a:avLst>
          </a:prstGeom>
          <a:solidFill>
            <a:srgbClr val="C7DEEA"/>
          </a:solidFill>
          <a:ln cap="flat" cmpd="sng" w="3810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963825" y="3439550"/>
            <a:ext cx="13062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Tax Structure</a:t>
            </a:r>
            <a:endParaRPr sz="17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839825" y="3571850"/>
            <a:ext cx="13062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Incentives</a:t>
            </a:r>
            <a:endParaRPr sz="17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751850" y="3365725"/>
            <a:ext cx="13062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Firms &amp; Household Responses</a:t>
            </a:r>
            <a:endParaRPr sz="15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663900" y="3240350"/>
            <a:ext cx="13062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Economic Structure &amp; Demograp-hics</a:t>
            </a:r>
            <a:endParaRPr sz="1500">
              <a:solidFill>
                <a:schemeClr val="lt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Observe Incentives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Observing Unknown Collective Factors</a:t>
            </a:r>
            <a:r>
              <a:rPr lang="en" sz="2000">
                <a:solidFill>
                  <a:srgbClr val="2445C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measure incentives using what states actually collect, not what policies intend: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Revenue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sources grouped into broad categories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Focus on persistent, long-run pattern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Suspending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assumptions about “good” or “bad” taxes.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99" name="Google Shape;99;p16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6"/>
          <p:cNvSpPr txBox="1"/>
          <p:nvPr/>
        </p:nvSpPr>
        <p:spPr>
          <a:xfrm>
            <a:off x="5725950" y="1866250"/>
            <a:ext cx="2620800" cy="2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key metrics of top 3 vs bottom 3 (table or visualization) - averaged, states with the largest (tax base revenue) +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sustainable average tax income growth.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7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Observe Adaptation: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Evolving from Growth to Progress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focus on how states change over time, not just how large or rich they are: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Economic structure (sector mix, concentration)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Diversification vs specialization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Demographic drift (aging, 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dependency</a:t>
            </a: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" name="Google Shape;110;p17"/>
          <p:cNvSpPr txBox="1"/>
          <p:nvPr/>
        </p:nvSpPr>
        <p:spPr>
          <a:xfrm>
            <a:off x="5406000" y="1832175"/>
            <a:ext cx="3528900" cy="2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key metrics of top 1 vs bottom 1 (table or visualization) - state with the highest progress towards diverse economic mix, highest diversification vs those who specializated with their respective demographic &amp; median income shifts as proxy for economic heath &amp; wealth distribution  respectively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How We Assess Directionality: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Working Towards Resilience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172900" y="1727850"/>
            <a:ext cx="46794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700"/>
              <a:buFont typeface="Montserrat SemiBold"/>
              <a:buChar char="●"/>
            </a:pPr>
            <a:r>
              <a:rPr lang="en" sz="17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compare groups of similar states and observe divergence after shared national events:</a:t>
            </a:r>
            <a:endParaRPr sz="17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Group states by similar tax structures 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Observe differences after national shocks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AutoNum type="arabicParenR"/>
            </a:pPr>
            <a:r>
              <a:rPr lang="en" sz="16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Look for consistent patterns, not precision</a:t>
            </a:r>
            <a:endParaRPr sz="16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19" name="Google Shape;119;p18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18"/>
          <p:cNvSpPr txBox="1"/>
          <p:nvPr/>
        </p:nvSpPr>
        <p:spPr>
          <a:xfrm>
            <a:off x="5406000" y="1832175"/>
            <a:ext cx="35289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Insert key metrics of top 3 vs bottom 3 (table or visualization) - state with the highest resilience during key crisis periods (covid) vs those with the worst.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9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When Results Are Mixed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Absence as Information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9"/>
          <p:cNvSpPr txBox="1"/>
          <p:nvPr/>
        </p:nvSpPr>
        <p:spPr>
          <a:xfrm>
            <a:off x="431700" y="3100730"/>
            <a:ext cx="8280600" cy="16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F65A7"/>
                </a:solidFill>
                <a:latin typeface="Montserrat"/>
                <a:ea typeface="Montserrat"/>
                <a:cs typeface="Montserrat"/>
                <a:sym typeface="Montserrat"/>
              </a:rPr>
              <a:t>Why is it important?</a:t>
            </a:r>
            <a:endParaRPr b="1" sz="16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Some incentives align with outcomes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Others show weakness or no association 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00"/>
              <a:buFont typeface="Montserrat"/>
              <a:buAutoNum type="arabicParenR"/>
            </a:pPr>
            <a:r>
              <a:rPr lang="en" sz="17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Narrows the range of plausible policy narratives</a:t>
            </a:r>
            <a:endParaRPr sz="1700">
              <a:solidFill>
                <a:schemeClr val="accent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F65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Knowing where incentives do not appear to matter is also valuable.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4F6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0" title="image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700" y="45900"/>
            <a:ext cx="2031299" cy="1354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431700" y="284325"/>
            <a:ext cx="6681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+</a:t>
            </a:r>
            <a:r>
              <a:rPr lang="en" sz="3600">
                <a:solidFill>
                  <a:srgbClr val="00274C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Framework for Policymakers</a:t>
            </a:r>
            <a:r>
              <a:rPr lang="en" sz="3600">
                <a:solidFill>
                  <a:srgbClr val="3B54B9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: </a:t>
            </a:r>
            <a:endParaRPr sz="3600">
              <a:solidFill>
                <a:srgbClr val="3B54B9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707150" y="747860"/>
            <a:ext cx="70860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 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Navigating Uncertainty</a:t>
            </a:r>
            <a:r>
              <a:rPr lang="en" sz="180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endParaRPr sz="2000">
              <a:solidFill>
                <a:srgbClr val="2445C8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38" name="Google Shape;138;p20"/>
          <p:cNvCxnSpPr/>
          <p:nvPr/>
        </p:nvCxnSpPr>
        <p:spPr>
          <a:xfrm>
            <a:off x="520104" y="1501696"/>
            <a:ext cx="6159600" cy="13800"/>
          </a:xfrm>
          <a:prstGeom prst="straightConnector1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0"/>
          <p:cNvSpPr txBox="1"/>
          <p:nvPr/>
        </p:nvSpPr>
        <p:spPr>
          <a:xfrm>
            <a:off x="197500" y="1649344"/>
            <a:ext cx="8502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B54B9"/>
              </a:buClr>
              <a:buSzPts val="1800"/>
              <a:buFont typeface="Montserrat SemiBold"/>
              <a:buChar char="●"/>
            </a:pP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framework adds a diagnostic </a:t>
            </a: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lens</a:t>
            </a:r>
            <a:r>
              <a:rPr lang="en" sz="1800">
                <a:solidFill>
                  <a:srgbClr val="3B54B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to the policymaker’s toolkit.</a:t>
            </a:r>
            <a:endParaRPr sz="1800">
              <a:solidFill>
                <a:srgbClr val="3B54B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40" name="Google Shape;140;p20"/>
          <p:cNvGraphicFramePr/>
          <p:nvPr/>
        </p:nvGraphicFramePr>
        <p:xfrm>
          <a:off x="952500" y="2670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{9113346E-2D16-4EFC-AF66-7D4374C97859}</a:tableStyleId>
              </a:tblPr>
              <a:tblGrid>
                <a:gridCol w="3619500"/>
                <a:gridCol w="3619500"/>
              </a:tblGrid>
              <a:tr h="285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4F6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Enables </a:t>
                      </a:r>
                      <a:endParaRPr>
                        <a:solidFill>
                          <a:srgbClr val="E4F6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4B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4F6FF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Does Not</a:t>
                      </a:r>
                      <a:endParaRPr>
                        <a:solidFill>
                          <a:srgbClr val="E4F6FF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54B9"/>
                    </a:solidFill>
                  </a:tcPr>
                </a:tc>
              </a:tr>
              <a:tr h="1180075"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Observe long-run incentive alignment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Compare policy environments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Surface misalignments early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EEA"/>
                    </a:solidFill>
                  </a:tcPr>
                </a:tc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Prescribe tax changes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Claim cause-and-effect</a:t>
                      </a:r>
                      <a:endParaRPr sz="1500">
                        <a:solidFill>
                          <a:schemeClr val="dk2"/>
                        </a:solidFill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500"/>
                        <a:buChar char="●"/>
                      </a:pPr>
                      <a:r>
                        <a:rPr lang="en" sz="1500">
                          <a:solidFill>
                            <a:schemeClr val="dk2"/>
                          </a:solidFill>
                        </a:rPr>
                        <a:t>Replace detailed policy studies</a:t>
                      </a:r>
                      <a:endParaRPr sz="1500"/>
                    </a:p>
                  </a:txBody>
                  <a:tcPr marT="91425" marB="91425" marR="91425" marL="91425">
                    <a:lnL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E4F6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7DE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